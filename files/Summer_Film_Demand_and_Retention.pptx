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3.xml" ContentType="application/vnd.openxmlformats-officedocument.drawingml.chart+xml"/>
  <Override PartName="/ppt/notesSlides/notesSlide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8989e53d5a4c5e" /><Relationship Type="http://schemas.openxmlformats.org/officeDocument/2006/relationships/extended-properties" Target="/docProps/app.xml" Id="R390c44bb9e604bb2" /><Relationship Type="http://schemas.openxmlformats.org/officeDocument/2006/relationships/officeDocument" Target="/ppt/presentation.xml" Id="Rbc7b2f8e149443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4117b509394e87"/>
  </p:sldMasterIdLst>
  <p:notesMasterIdLst>
    <p:notesMasterId xmlns:r="http://schemas.openxmlformats.org/officeDocument/2006/relationships" r:id="R2a58dee5373d48ab"/>
  </p:notesMasterIdLst>
  <p:sldIdLst>
    <p:sldId xmlns:r="http://schemas.openxmlformats.org/officeDocument/2006/relationships" id="256" r:id="Raf29b54a2e9d4b7b"/>
    <p:sldId xmlns:r="http://schemas.openxmlformats.org/officeDocument/2006/relationships" id="257" r:id="R476a82a2cf624dae"/>
    <p:sldId xmlns:r="http://schemas.openxmlformats.org/officeDocument/2006/relationships" id="258" r:id="Rb5abc90f628c4c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bafb5aabb44ed9" /><Relationship Type="http://schemas.openxmlformats.org/officeDocument/2006/relationships/slideMaster" Target="/ppt/slideMasters/slideMaster1.xml" Id="Rf74117b509394e87" /><Relationship Type="http://schemas.openxmlformats.org/officeDocument/2006/relationships/notesMaster" Target="/ppt/notesMasters/notesMaster1.xml" Id="R2a58dee5373d48ab" /><Relationship Type="http://schemas.openxmlformats.org/officeDocument/2006/relationships/presProps" Target="/ppt/presProps.xml" Id="Ra2c2961bf17e4a1d" /><Relationship Type="http://schemas.openxmlformats.org/officeDocument/2006/relationships/tableStyles" Target="/ppt/tableStyles.xml" Id="R8d42ad0475eb4efd" /><Relationship Type="http://schemas.openxmlformats.org/officeDocument/2006/relationships/slide" Target="/ppt/slides/slide1.xml" Id="Raf29b54a2e9d4b7b" /><Relationship Type="http://schemas.openxmlformats.org/officeDocument/2006/relationships/slide" Target="/ppt/slides/slide2.xml" Id="R476a82a2cf624dae" /><Relationship Type="http://schemas.openxmlformats.org/officeDocument/2006/relationships/slide" Target="/ppt/slides/slide3.xml" Id="Rb5abc90f628c4c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dfbb7b81ad4a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e7e1a1eb924638" /><Relationship Type="http://schemas.openxmlformats.org/officeDocument/2006/relationships/notesMaster" Target="/ppt/notesMasters/notesMaster1.xml" Id="R23e272b0215843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164345d5d84f55" /><Relationship Type="http://schemas.openxmlformats.org/officeDocument/2006/relationships/notesMaster" Target="/ppt/notesMasters/notesMaster1.xml" Id="Rab0fb73f7d0d48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9b63e199b84fe9" /><Relationship Type="http://schemas.openxmlformats.org/officeDocument/2006/relationships/notesMaster" Target="/ppt/notesMasters/notesMaster1.xml" Id="R03f03a81c3d44d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retrieved October 9, 2026: https://www.the-numbers.com/movie/Elio-(2025) and https://www.the-numbers.com/movie/28-Years-Later-(2025). Opening gross: $20,840,667 vs. $30,002,966. Fourth-weekend gross: $4,036,724 vs. $2,761,843. Fourth-weekend theater counts: 2,730 vs. 2,208. Per-theater figures calculated from exact values, not rounded published averages. Comparisons: -30.537977%, +46.160517%, +18.213341%. Publisher opening totals retain preview conventions. Observational comparison across different genres. No causal inference about marketing or audience demographics.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https://www.the-numbers.com/movie/F1-The-Movie-(2025)</a:t>
            </a:r>
          </a:p>
          <a:p xmlns:a="http://schemas.openxmlformats.org/drawingml/2006/main">
            <a:r>
              <a:t>Source: https://www.the-numbers.com/movie/28-Years-Later-(2025)</a:t>
            </a:r>
          </a:p>
          <a:p xmlns:a="http://schemas.openxmlformats.org/drawingml/2006/main">
            <a:r>
              <a:t>Source: https://www.the-numbers.com/movie/Elio-(2025)</a:t>
            </a:r>
          </a:p>
          <a:p xmlns:a="http://schemas.openxmlformats.org/drawingml/2006/main">
            <a:r>
              <a:t>Source: https://www.the-numbers.com/movie/M3GAN-2-0-(2025)</a:t>
            </a:r>
          </a:p>
          <a:p xmlns:a="http://schemas.openxmlformats.org/drawingml/2006/main">
            <a:r>
              <a:t>Source: https://www.the-numbers.com/movie/How-to-Train-Your-Dragon-(2025)</a:t>
            </a:r>
          </a:p>
          <a:p xmlns:a="http://schemas.openxmlformats.org/drawingml/2006/main">
            <a:r>
              <a:t>Retrieved October 9, 2026. Per-theater retention = (week 4 gross/week 4 theaters)/(opening gross/opening theaters). Sorted descending. The comparison retains each film's own first four weekends; calendar dates differ. Purposive five-film case study, not a representative sample. Theater counts do not capture showtimes, capacity, premium format, prices or venue selection. F1 fourth-weekend figure = $9,877,061/3,094. The M3GAN 2.0 theater footprint fell from 3,112 to 712, making the mix of remaining theaters important. No unique-viewer or profitability measurement.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Selected two-upload public-search snapshots, retrieved October 9, 2026 (UTC), not live measurements. F1: The Movie official trailer, Warner Bros. Pictures, published March 13, 2025, reported 21,960,274 views, https://www.youtube.com/watch?v=CT2_P2DZBR0. Exact upload embedded in Apple trailer announcement: https://www.apple.com/ca/tv-pr/news/2025/03/apple-original-films-unveils-the-f1-movie-trailer/. 28 Years Later official trailer, Sony Pictures Entertainment, published December 10, 2024, reported 34,419,213 views, https://www.youtube.com/watch?v=mcvLKldPM08. Underlying count-refresh times unavailable. Publication dates differ by 93 days. Counts may include repeated plays and paid distribution; geography, watch time, demographics, sentiment, conversion, monetization and brand affinity are unavailable. Excludes later trailers, regional versions, reuploads and other platforms. Counts are not pre-release 2025 observations and were not regressed against historical box office. Recommendations are proposed portfolio applications, not implemented client outcomes. Prepared with AI assistance; recorded data and derived metrics were separately validated.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81d92398fc42e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b9f6be6cf342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2d6b7bda7b4d3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61bf597cf7471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c4c65a4c9a45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af64345ab847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5E566D-FC5A-46EC-BCFD-8E433C797D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D90392E-F2E7-49A4-AAE6-5142350B08F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FD7CAED-C003-49A1-B8D5-75E6A6AB77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5B252B-8430-4B8A-BFA6-5C82DE880B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6A0EB78-33BE-4AC0-8DF0-62A7D380A9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BD3268E-C830-466A-AFE7-2EE072CB92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F09785-1165-4E22-A148-8130118075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523EE8A-9F22-4CCF-A2EB-318A72E3708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EBD4DB-AE02-4783-8C3E-F3EB009581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234443-6568-4542-821A-36FF14FC6C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9cc69134024bcd" /><Relationship Type="http://schemas.openxmlformats.org/officeDocument/2006/relationships/slideLayout" Target="/ppt/slideLayouts/slideLayout1.xml" Id="R0bbc167df3174232" /><Relationship Type="http://schemas.openxmlformats.org/officeDocument/2006/relationships/slideLayout" Target="/ppt/slideLayouts/slideLayout2.xml" Id="Rffffae12f42e4109" /><Relationship Type="http://schemas.openxmlformats.org/officeDocument/2006/relationships/slideLayout" Target="/ppt/slideLayouts/slideLayout3.xml" Id="Re392f6598c1a4fb2" /><Relationship Type="http://schemas.openxmlformats.org/officeDocument/2006/relationships/slideLayout" Target="/ppt/slideLayouts/slideLayout4.xml" Id="R99b32eb1c30b4ab1" /><Relationship Type="http://schemas.openxmlformats.org/officeDocument/2006/relationships/slideLayout" Target="/ppt/slideLayouts/slideLayout5.xml" Id="Re722697e21a44723" /><Relationship Type="http://schemas.openxmlformats.org/officeDocument/2006/relationships/slideLayout" Target="/ppt/slideLayouts/slideLayout6.xml" Id="Ra4948f9d5c9348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bc167df3174232"/>
    <p:sldLayoutId xmlns:r="http://schemas.openxmlformats.org/officeDocument/2006/relationships" id="2147483650" r:id="Rffffae12f42e4109"/>
    <p:sldLayoutId xmlns:r="http://schemas.openxmlformats.org/officeDocument/2006/relationships" id="2147483651" r:id="Re392f6598c1a4fb2"/>
    <p:sldLayoutId xmlns:r="http://schemas.openxmlformats.org/officeDocument/2006/relationships" id="2147483652" r:id="R99b32eb1c30b4ab1"/>
    <p:sldLayoutId xmlns:r="http://schemas.openxmlformats.org/officeDocument/2006/relationships" id="2147483653" r:id="Re722697e21a44723"/>
    <p:sldLayoutId xmlns:r="http://schemas.openxmlformats.org/officeDocument/2006/relationships" id="2147483654" r:id="Ra4948f9d5c9348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64918ca7384b5d" /><Relationship Type="http://schemas.openxmlformats.org/officeDocument/2006/relationships/chart" Target="/ppt/slides/charts/chart1.xml" Id="Rbc6679ba93534321" /><Relationship Type="http://schemas.openxmlformats.org/officeDocument/2006/relationships/notesSlide" Target="/ppt/notesSlides/notesSlide1.xml" Id="R9d166ca81d2b44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599b1445764bca" /><Relationship Type="http://schemas.openxmlformats.org/officeDocument/2006/relationships/chart" Target="/ppt/slides/charts/chart2.xml" Id="R7a9b5a5a00934cb1" /><Relationship Type="http://schemas.openxmlformats.org/officeDocument/2006/relationships/notesSlide" Target="/ppt/notesSlides/notesSlide2.xml" Id="R7b92b44faf1644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317cfbf97c44a5" /><Relationship Type="http://schemas.openxmlformats.org/officeDocument/2006/relationships/chart" Target="/ppt/slides/charts/chart3.xml" Id="Rb4037980489f4e37" /><Relationship Type="http://schemas.openxmlformats.org/officeDocument/2006/relationships/notesSlide" Target="/ppt/notesSlides/notesSlide3.xml" Id="R96d406631a304aa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Elio</c:v>
          </c:tx>
          <c:spPr>
            <a:solidFill xmlns:a="http://schemas.openxmlformats.org/drawingml/2006/main">
              <a:srgbClr val="226B92"/>
            </a:solidFill>
          </c:spPr>
          <c:cat>
            <c:strRef>
              <c:f>'Chart Data'!$A$2:$A$3</c:f>
              <c:strCache>
                <c:ptCount val="2"/>
                <c:pt idx="0">
                  <c:v>Opening weekend</c:v>
                </c:pt>
                <c:pt idx="1">
                  <c:v>Fourth weekend</c:v>
                </c:pt>
              </c:strCache>
            </c:strRef>
          </c:cat>
          <c:val>
            <c:numRef>
              <c:f>'Chart Data'!$B$2:$B$3</c:f>
              <c:numCache>
                <c:formatCode>$0,,"M"</c:formatCode>
                <c:ptCount val="2"/>
                <c:pt idx="0">
                  <c:v>20840667</c:v>
                </c:pt>
                <c:pt idx="1">
                  <c:v>4036724</c:v>
                </c:pt>
              </c:numCache>
            </c:numRef>
          </c:val>
        </c:ser>
        <c:ser>
          <c:idx val="1"/>
          <c:order val="1"/>
          <c:tx>
            <c:v>28 Years Later</c:v>
          </c:tx>
          <c:spPr>
            <a:solidFill xmlns:a="http://schemas.openxmlformats.org/drawingml/2006/main">
              <a:srgbClr val="A3580B"/>
            </a:solidFill>
          </c:spPr>
          <c:cat>
            <c:strRef>
              <c:f>'Chart Data'!$C$2:$C$3</c:f>
              <c:strCache>
                <c:ptCount val="2"/>
                <c:pt idx="0">
                  <c:v>Opening weekend</c:v>
                </c:pt>
                <c:pt idx="1">
                  <c:v>Fourth weekend</c:v>
                </c:pt>
              </c:strCache>
            </c:strRef>
          </c:cat>
          <c:val>
            <c:numRef>
              <c:f>'Chart Data'!$D$2:$D$3</c:f>
              <c:numCache>
                <c:formatCode>$0,,"M"</c:formatCode>
                <c:ptCount val="2"/>
                <c:pt idx="0">
                  <c:v>30002966</c:v>
                </c:pt>
                <c:pt idx="1">
                  <c:v>2761843</c:v>
                </c:pt>
              </c:numCache>
            </c:numRef>
          </c:val>
        </c:ser>
        <c:dLbls>
          <c:numFmt formatCode="$0.0,,&quot;M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52439"/>
                  </a:solidFill>
                  <a:latin typeface="Nimbus Sans"/>
                  <a:ea typeface="Nimbus Sans"/>
                  <a:cs typeface="Nimbus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4B3C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72768"/>
      </c:catAx>
      <c:valAx>
        <c:axId val="48672768"/>
        <c:scaling>
          <c:orientation val="minMax"/>
          <c:max val="3500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7ED"/>
              </a:solidFill>
            </a:ln>
          </c:spPr>
        </c:majorGridlines>
        <c:numFmt formatCode="$0,,&quot;M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50112"/>
        <c:crossBetween val="between"/>
        <c:majorUnit val="10000000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Nimbus Sans"/>
              <a:ea typeface="Nimbus Sans"/>
              <a:cs typeface="Nimbus San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Per-theater revenue retained</c:v>
          </c:tx>
          <c:spPr>
            <a:solidFill xmlns:a="http://schemas.openxmlformats.org/drawingml/2006/main">
              <a:srgbClr val="226B92"/>
            </a:solidFill>
          </c:spPr>
          <c:cat>
            <c:strRef>
              <c:f>'Chart Data'!$A$2:$A$6</c:f>
              <c:strCache>
                <c:ptCount val="5"/>
                <c:pt idx="0">
                  <c:v>28 Years Later</c:v>
                </c:pt>
                <c:pt idx="1">
                  <c:v>How to Train Your Dragon</c:v>
                </c:pt>
                <c:pt idx="2">
                  <c:v>F1: The Movie</c:v>
                </c:pt>
                <c:pt idx="3">
                  <c:v>M3GAN 2.0</c:v>
                </c:pt>
                <c:pt idx="4">
                  <c:v>Elio</c:v>
                </c:pt>
              </c:strCache>
            </c:strRef>
          </c:cat>
          <c:val>
            <c:numRef>
              <c:f>'Chart Data'!$B$2:$B$6</c:f>
              <c:numCache>
                <c:formatCode>0%</c:formatCode>
                <c:ptCount val="5"/>
                <c:pt idx="0">
                  <c:v>0.143582</c:v>
                </c:pt>
                <c:pt idx="1">
                  <c:v>0.155887</c:v>
                </c:pt>
                <c:pt idx="2">
                  <c:v>0.205031</c:v>
                </c:pt>
                <c:pt idx="3">
                  <c:v>0.212952</c:v>
                </c:pt>
                <c:pt idx="4">
                  <c:v>0.266064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52439"/>
                  </a:solidFill>
                  <a:latin typeface="Nimbus Sans"/>
                  <a:ea typeface="Nimbus Sans"/>
                  <a:cs typeface="Nimbus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72768"/>
      </c:catAx>
      <c:valAx>
        <c:axId val="48672768"/>
        <c:scaling>
          <c:orientation val="minMax"/>
          <c:max val="0.32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7ED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Reported cumulative views</c:v>
          </c:tx>
          <c:spPr>
            <a:solidFill xmlns:a="http://schemas.openxmlformats.org/drawingml/2006/main">
              <a:srgbClr val="226B92"/>
            </a:solidFill>
          </c:spPr>
          <c:cat>
            <c:strRef>
              <c:f>'Chart Data'!$A$2:$A$3</c:f>
              <c:strCache>
                <c:ptCount val="2"/>
                <c:pt idx="0">
                  <c:v>F1: The Movie</c:v>
                </c:pt>
                <c:pt idx="1">
                  <c:v>28 Years Later</c:v>
                </c:pt>
              </c:strCache>
            </c:strRef>
          </c:cat>
          <c:val>
            <c:numRef>
              <c:f>'Chart Data'!$B$2:$B$3</c:f>
              <c:numCache>
                <c:formatCode>0,,"M"</c:formatCode>
                <c:ptCount val="2"/>
                <c:pt idx="0">
                  <c:v>21960274</c:v>
                </c:pt>
                <c:pt idx="1">
                  <c:v>34419213</c:v>
                </c:pt>
              </c:numCache>
            </c:numRef>
          </c:val>
        </c:ser>
        <c:dLbls>
          <c:numFmt formatCode="0.0,,&quot;M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52439"/>
                  </a:solidFill>
                  <a:latin typeface="Nimbus Sans"/>
                  <a:ea typeface="Nimbus Sans"/>
                  <a:cs typeface="Nimbus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4B3C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72768"/>
      </c:catAx>
      <c:valAx>
        <c:axId val="48672768"/>
        <c:scaling>
          <c:orientation val="minMax"/>
          <c:max val="4000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7ED"/>
              </a:solidFill>
            </a:ln>
          </c:spPr>
        </c:majorGridlines>
        <c:numFmt formatCode="0,,&quot;M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50112"/>
        <c:crossBetween val="between"/>
        <c:majorUnit val="1000000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F0D49983-1252-4BE8-BD3A-EE447D29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2439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439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152439"/>
                </a:solidFill>
                <a:latin typeface="Nimbus Sans"/>
                <a:ea typeface="Nimbus Sans"/>
                <a:cs typeface="Nimbus Sans"/>
              </a:rPr>
              <a:t>Elio overtook 28 Years Later by weekend four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460FB865-E195-407A-A56A-8287031F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478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8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526478"/>
                </a:solidFill>
                <a:latin typeface="Nimbus Sans"/>
                <a:ea typeface="Nimbus Sans"/>
                <a:cs typeface="Nimbus Sans"/>
              </a:rPr>
              <a:t>Both films opened June 20, 2025. Domestic box office, USD.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E1C54B3F-32C6-4EDA-A1A2-3BD81C915E4B}"/>
              </a:ext>
            </a:extLst>
          </p:cNvPr>
          <p:cNvGraphicFramePr/>
          <p:nvPr/>
        </p:nvGraphicFramePr>
        <p:xfrm>
          <a:off xmlns:a="http://schemas.openxmlformats.org/drawingml/2006/main" x="552450" y="2219325"/>
          <a:ext xmlns:a="http://schemas.openxmlformats.org/drawingml/2006/main" cx="7296150" cy="3543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6679ba93534321"/>
          </a:graphicData>
        </a:graphic>
      </p:graphicFrame>
      <p:sp>
        <p:nvSpPr>
          <p:cNvPr id="4" name="opening metric">
            <a:extLst xmlns:a="http://schemas.openxmlformats.org/drawingml/2006/main">
              <a:ext uri="{FF2B5EF4-FFF2-40B4-BE49-F238E27FC236}">
                <a16:creationId xmlns:a16="http://schemas.microsoft.com/office/drawing/2014/main" id="{1F9CE886-B41E-416C-94BA-97AF381B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05050"/>
            <a:ext cx="319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26B92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26B92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226B92"/>
                </a:solidFill>
                <a:latin typeface="Nimbus Sans"/>
                <a:ea typeface="Nimbus Sans"/>
                <a:cs typeface="Nimbus Sans"/>
              </a:rPr>
              <a:t>30.5% smaller opening</a:t>
            </a:r>
          </a:p>
        </p:txBody>
      </p:sp>
      <p:sp>
        <p:nvSpPr>
          <p:cNvPr id="5" name="week4 metric">
            <a:extLst xmlns:a="http://schemas.openxmlformats.org/drawingml/2006/main">
              <a:ext uri="{FF2B5EF4-FFF2-40B4-BE49-F238E27FC236}">
                <a16:creationId xmlns:a16="http://schemas.microsoft.com/office/drawing/2014/main" id="{8B8E0C59-9AD8-4F7D-A127-143BE694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14700"/>
            <a:ext cx="31908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26B92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26B92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226B92"/>
                </a:solidFill>
                <a:latin typeface="Nimbus Sans"/>
                <a:ea typeface="Nimbus Sans"/>
                <a:cs typeface="Nimbus Sans"/>
              </a:rPr>
              <a:t>46.2% higher fourth-weekend gross</a:t>
            </a:r>
          </a:p>
        </p:txBody>
      </p:sp>
      <p:sp>
        <p:nvSpPr>
          <p:cNvPr id="6" name="average metric">
            <a:extLst xmlns:a="http://schemas.openxmlformats.org/drawingml/2006/main">
              <a:ext uri="{FF2B5EF4-FFF2-40B4-BE49-F238E27FC236}">
                <a16:creationId xmlns:a16="http://schemas.microsoft.com/office/drawing/2014/main" id="{28B5040A-53A8-408A-9A4E-0C22E488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38675"/>
            <a:ext cx="31908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439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439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152439"/>
                </a:solidFill>
                <a:latin typeface="Nimbus Sans"/>
                <a:ea typeface="Nimbus Sans"/>
                <a:cs typeface="Nimbus Sans"/>
              </a:rPr>
              <a:t>18.2% higher revenue per theater in weekend four</a:t>
            </a:r>
          </a:p>
        </p:txBody>
      </p:sp>
      <p:sp>
        <p:nvSpPr>
          <p:cNvPr id="7" name="scope">
            <a:extLst xmlns:a="http://schemas.openxmlformats.org/drawingml/2006/main">
              <a:ext uri="{FF2B5EF4-FFF2-40B4-BE49-F238E27FC236}">
                <a16:creationId xmlns:a16="http://schemas.microsoft.com/office/drawing/2014/main" id="{6315EDEC-EB8E-4869-9BAC-7AE43BE3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478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526478"/>
                </a:solidFill>
                <a:latin typeface="Nimbus Sans"/>
                <a:ea typeface="Nimbus Sans"/>
                <a:cs typeface="Nimbus Sans"/>
              </a:rPr>
              <a:t>Michael Farzinpour. October 2026 portfolio study. United States and Canada.</a:t>
            </a:r>
          </a:p>
        </p:txBody>
      </p:sp>
    </p:spTree>
    <p:extLst>
      <p:ext uri="{BB962C8B-B14F-4D97-AF65-F5344CB8AC3E}">
        <p14:creationId xmlns:p14="http://schemas.microsoft.com/office/powerpoint/2010/main" val="16252104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BA89D2B5-4ED2-4C88-94BA-B9F46213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2439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439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152439"/>
                </a:solidFill>
                <a:latin typeface="Nimbus Sans"/>
                <a:ea typeface="Nimbus Sans"/>
                <a:cs typeface="Nimbus Sans"/>
              </a:rPr>
              <a:t>Revenue retention and absolute demand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2012A76E-DCB6-444B-B20B-EF9159D3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478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8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526478"/>
                </a:solidFill>
                <a:latin typeface="Nimbus Sans"/>
                <a:ea typeface="Nimbus Sans"/>
                <a:cs typeface="Nimbus Sans"/>
              </a:rPr>
              <a:t>Fourth-weekend revenue per theater as a share of opening weekend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53DE421B-E11B-4AEF-8342-1C88175F9642}"/>
              </a:ext>
            </a:extLst>
          </p:cNvPr>
          <p:cNvGraphicFramePr/>
          <p:nvPr/>
        </p:nvGraphicFramePr>
        <p:xfrm>
          <a:off xmlns:a="http://schemas.openxmlformats.org/drawingml/2006/main" x="514350" y="2162175"/>
          <a:ext xmlns:a="http://schemas.openxmlformats.org/drawingml/2006/main" cx="7410450" cy="3609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9b5a5a00934cb1"/>
          </a:graphicData>
        </a:graphic>
      </p:graphicFrame>
      <p:sp>
        <p:nvSpPr>
          <p:cNvPr id="4" name="scale metric">
            <a:extLst xmlns:a="http://schemas.openxmlformats.org/drawingml/2006/main">
              <a:ext uri="{FF2B5EF4-FFF2-40B4-BE49-F238E27FC236}">
                <a16:creationId xmlns:a16="http://schemas.microsoft.com/office/drawing/2014/main" id="{E642B74A-621E-49A3-8B42-C93C5E02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76475"/>
            <a:ext cx="3238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26B92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26B92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226B92"/>
                </a:solidFill>
                <a:latin typeface="Nimbus Sans"/>
                <a:ea typeface="Nimbus Sans"/>
                <a:cs typeface="Nimbus Sans"/>
              </a:rPr>
              <a:t>F1: $3,192 per theater</a:t>
            </a:r>
          </a:p>
        </p:txBody>
      </p:sp>
      <p:sp>
        <p:nvSpPr>
          <p:cNvPr id="5" name="scale finding">
            <a:extLst xmlns:a="http://schemas.openxmlformats.org/drawingml/2006/main">
              <a:ext uri="{FF2B5EF4-FFF2-40B4-BE49-F238E27FC236}">
                <a16:creationId xmlns:a16="http://schemas.microsoft.com/office/drawing/2014/main" id="{0858FC6E-0181-42E8-A24D-EA08BE39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95650"/>
            <a:ext cx="323850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439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439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52439"/>
                </a:solidFill>
                <a:latin typeface="Nimbus Sans"/>
                <a:ea typeface="Nimbus Sans"/>
                <a:cs typeface="Nimbus Sans"/>
              </a:rPr>
              <a:t>F1 had the highest absolute fourth-weekend average in this set, even though Elio retained a larger share of its opening average.</a:t>
            </a:r>
          </a:p>
        </p:txBody>
      </p:sp>
      <p:sp>
        <p:nvSpPr>
          <p:cNvPr id="6" name="denominator caution">
            <a:extLst xmlns:a="http://schemas.openxmlformats.org/drawingml/2006/main">
              <a:ext uri="{FF2B5EF4-FFF2-40B4-BE49-F238E27FC236}">
                <a16:creationId xmlns:a16="http://schemas.microsoft.com/office/drawing/2014/main" id="{4001CE9F-9299-46E3-B81F-0EAA3E5E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181600"/>
            <a:ext cx="3238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478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8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526478"/>
                </a:solidFill>
                <a:latin typeface="Nimbus Sans"/>
                <a:ea typeface="Nimbus Sans"/>
                <a:cs typeface="Nimbus Sans"/>
              </a:rPr>
              <a:t>The venues that remain can differ. Retention alone does not measure total reach.</a:t>
            </a:r>
          </a:p>
        </p:txBody>
      </p:sp>
      <p:sp>
        <p:nvSpPr>
          <p:cNvPr id="7" name="scope">
            <a:extLst xmlns:a="http://schemas.openxmlformats.org/drawingml/2006/main">
              <a:ext uri="{FF2B5EF4-FFF2-40B4-BE49-F238E27FC236}">
                <a16:creationId xmlns:a16="http://schemas.microsoft.com/office/drawing/2014/main" id="{2E3CD0A9-D66A-4BA7-9838-2F608E95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478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526478"/>
                </a:solidFill>
                <a:latin typeface="Nimbus Sans"/>
                <a:ea typeface="Nimbus Sans"/>
                <a:cs typeface="Nimbus Sans"/>
              </a:rPr>
              <a:t>Case study of five selected June 2025 releases. Four weekends per film. Revenue retention does not measure repeat viewers.</a:t>
            </a:r>
          </a:p>
        </p:txBody>
      </p:sp>
    </p:spTree>
    <p:extLst>
      <p:ext uri="{BB962C8B-B14F-4D97-AF65-F5344CB8AC3E}">
        <p14:creationId xmlns:p14="http://schemas.microsoft.com/office/powerpoint/2010/main" val="14052131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3C385880-0B82-486E-89F2-5A7F74EC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2439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439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152439"/>
                </a:solidFill>
                <a:latin typeface="Nimbus Sans"/>
                <a:ea typeface="Nimbus Sans"/>
                <a:cs typeface="Nimbus Sans"/>
              </a:rPr>
              <a:t>YouTube viewing activity adds a separate signal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1E1C26BE-8275-451E-88E5-AF307E14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478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8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526478"/>
                </a:solidFill>
                <a:latin typeface="Nimbus Sans"/>
                <a:ea typeface="Nimbus Sans"/>
                <a:cs typeface="Nimbus Sans"/>
              </a:rPr>
              <a:t>Two selected official trailers. Reported cumulative counts retrieved October 9, 2026.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96ADB239-B745-4F3A-BA62-59638FEB69C2}"/>
              </a:ext>
            </a:extLst>
          </p:cNvPr>
          <p:cNvGraphicFramePr/>
          <p:nvPr/>
        </p:nvGraphicFramePr>
        <p:xfrm>
          <a:off xmlns:a="http://schemas.openxmlformats.org/drawingml/2006/main" x="552450" y="2190750"/>
          <a:ext xmlns:a="http://schemas.openxmlformats.org/drawingml/2006/main" cx="6210300" cy="2838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4037980489f4e37"/>
          </a:graphicData>
        </a:graphic>
      </p:graphicFrame>
      <p:sp>
        <p:nvSpPr>
          <p:cNvPr id="4" name="publication dates">
            <a:extLst xmlns:a="http://schemas.openxmlformats.org/drawingml/2006/main">
              <a:ext uri="{FF2B5EF4-FFF2-40B4-BE49-F238E27FC236}">
                <a16:creationId xmlns:a16="http://schemas.microsoft.com/office/drawing/2014/main" id="{3CE55D0C-079F-41F4-9456-D10B9CD9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60293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478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478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526478"/>
                </a:solidFill>
                <a:latin typeface="Nimbus Sans"/>
                <a:ea typeface="Nimbus Sans"/>
                <a:cs typeface="Nimbus Sans"/>
              </a:rPr>
              <a:t>F1: published March 13, 2025</a:t>
            </a:r>
          </a:p>
          <a:p xmlns:a="http://schemas.openxmlformats.org/drawingml/2006/main">
            <a:pPr>
              <a:defRPr sz="1575" b="0">
                <a:solidFill>
                  <a:srgbClr val="526478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526478"/>
                </a:solidFill>
                <a:latin typeface="Nimbus Sans"/>
                <a:ea typeface="Nimbus Sans"/>
                <a:cs typeface="Nimbus Sans"/>
              </a:rPr>
              <a:t>28 Years Later: published December 10, 2024</a:t>
            </a:r>
          </a:p>
        </p:txBody>
      </p:sp>
      <p:sp>
        <p:nvSpPr>
          <p:cNvPr id="5" name="pitch heading">
            <a:extLst xmlns:a="http://schemas.openxmlformats.org/drawingml/2006/main">
              <a:ext uri="{FF2B5EF4-FFF2-40B4-BE49-F238E27FC236}">
                <a16:creationId xmlns:a16="http://schemas.microsoft.com/office/drawing/2014/main" id="{66CE81F1-5104-4940-8777-5733A4A9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62175"/>
            <a:ext cx="419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26B92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26B92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226B92"/>
                </a:solidFill>
                <a:latin typeface="Nimbus Sans"/>
                <a:ea typeface="Nimbus Sans"/>
                <a:cs typeface="Nimbus Sans"/>
              </a:rPr>
              <a:t>What an agent should ask next</a:t>
            </a:r>
          </a:p>
        </p:txBody>
      </p:sp>
      <p:sp>
        <p:nvSpPr>
          <p:cNvPr id="6" name="pitch recommendation">
            <a:extLst xmlns:a="http://schemas.openxmlformats.org/drawingml/2006/main">
              <a:ext uri="{FF2B5EF4-FFF2-40B4-BE49-F238E27FC236}">
                <a16:creationId xmlns:a16="http://schemas.microsoft.com/office/drawing/2014/main" id="{92AB3DC8-F4D9-4870-95A8-590FF192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05150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439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439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152439"/>
                </a:solidFill>
                <a:latin typeface="Nimbus Sans"/>
                <a:ea typeface="Nimbus Sans"/>
                <a:cs typeface="Nimbus Sans"/>
              </a:rPr>
              <a:t>Include opening size and week-four retention in the client pitch.</a:t>
            </a:r>
          </a:p>
        </p:txBody>
      </p:sp>
      <p:sp>
        <p:nvSpPr>
          <p:cNvPr id="7" name="creator recommendation">
            <a:extLst xmlns:a="http://schemas.openxmlformats.org/drawingml/2006/main">
              <a:ext uri="{FF2B5EF4-FFF2-40B4-BE49-F238E27FC236}">
                <a16:creationId xmlns:a16="http://schemas.microsoft.com/office/drawing/2014/main" id="{D2498C66-DCC5-49D3-98E0-C1791AFB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38600"/>
            <a:ext cx="4191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439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439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52439"/>
                </a:solidFill>
                <a:latin typeface="Nimbus Sans"/>
                <a:ea typeface="Nimbus Sans"/>
                <a:cs typeface="Nimbus Sans"/>
              </a:rPr>
              <a:t>For an F1 brand or creator idea, request recent organic viewing, audience geography and customer overlap before selecting partners.</a:t>
            </a:r>
          </a:p>
        </p:txBody>
      </p:sp>
      <p:sp>
        <p:nvSpPr>
          <p:cNvPr id="8" name="scope">
            <a:extLst xmlns:a="http://schemas.openxmlformats.org/drawingml/2006/main">
              <a:ext uri="{FF2B5EF4-FFF2-40B4-BE49-F238E27FC236}">
                <a16:creationId xmlns:a16="http://schemas.microsoft.com/office/drawing/2014/main" id="{4598ED0A-E091-4C61-8230-B0DFD160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478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7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526478"/>
                </a:solidFill>
                <a:latin typeface="Nimbus Sans"/>
                <a:ea typeface="Nimbus Sans"/>
                <a:cs typeface="Nimbus Sans"/>
              </a:rPr>
              <a:t>Refresh times are unknown. Views are plays, not unique viewers. These counts cannot explain or predict the 2025 box office.</a:t>
            </a:r>
          </a:p>
        </p:txBody>
      </p:sp>
    </p:spTree>
    <p:extLst>
      <p:ext uri="{BB962C8B-B14F-4D97-AF65-F5344CB8AC3E}">
        <p14:creationId xmlns:p14="http://schemas.microsoft.com/office/powerpoint/2010/main" val="1591214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2026-10-09T05:03:33.1640000Z</dcterms:created>
  <dcterms:modified xsi:type="dcterms:W3CDTF">2026-10-09T05:03:33.1640000Z</dcterms:modified>
</coreProperties>
</file>